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Project: Maize Disease Detection &amp; Kenya Maize Advisory Chatbot. Presenter: Willard Owiti Odongo. The deck covers the problem, the RAG architecture, the guardrails, measured results, security and the roadmap. The assistant is bilingual (English and Kiswahili), runs locally, and grounds its advice in a curated maize corpus.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framing. Maize is a staple crop in Kenya, and foliar diseases such as MLN, MSV, grey leaf spot and rust can cause severe losses. Diagnosis usually requires an agronomist, which is slow, expensive and unavailable in many areas. The context DFD shows the farmer as the key external entity; the advisory path is the gap this project fills. The solution must work in English and Kiswahili, and ideally offline.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solution. The system combines a Streamlit interface, a curated maize corpus, a hybrid retriever, a local instruction-tuned generator and a validation layer. It sits beside the image-based disease detector. Swahili questions are translated to English for retrieval, then the answer is generated in the user's language. No external API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overview. A farmer logs in, uploads or captures a leaf photo, and receives a disease prediction. The advisory tab carries the diagnosis into a chat, retrieves relevant passages, generates a grounded answer, validates it and saves the exchange. The same local model stack supports both detection and advice, which keeps deployment simple.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Ingestion. The corpus contains 24 curated documents plus four short disease seed documents. Text is extracted with PyMuPDF, cleaned, language-tagged and chunked at 220 words with a 40-word overlap. The overlap preserves context across chunk boundaries. The chunks and corpus are persisted so the index can be rebuilt reproducibly.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Vector store. The dense index uses multilingual-e5-small, a compact model that produces 384-dimensional embeddings. Vectors are L2-normalised, so cosine similarity is a dot product. The sparse BM25 index captures exact terms such as pesticide names and rates. Using NumPy avoids a separate vector database and keeps the stack portable.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Retrieval. Dense and sparse rankings are combined with weighted reciprocal rank fusion. The tuned configuration uses a dense weight of 0.9, a candidate depth of 10 and RRF k=30. Hit@5 rises from 0.50 to 0.75, and MRR from 0.21 to 0.42. Removing the Swahili-to-English pivot drops hit@5 to 0.25, which shows the pivot is essential for bilingual retrieval.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Generation. Qwen2.5-1.5B-Instruct is small enough to run locally and strong enough for grounded answer synthesis. The prompt restricts it to retrieved context and requires citations, language matching, a short disclaimer and caution around pesticide rates. Greedy decoding is the default because it is reproducible. A validation retry catches missing citations or language mismatches.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stack. The interface is Streamlit. Ingestion and search use PyMuPDF, pandas, NumPy and rank_bm25. Embeddings come from sentence-transformers, translation from NLLB-200, and generation from Qwen2.5. MySQL stores accounts, sessions, messages and feedback. The timing chart shows that generation dominates latency, while retrieval is comparatively cheap.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The first line is a rule-based refusal layer for out-of-scope questions: live market prices, human medicine, and topics outside maize agronomy. The second line validates citations, disclaimer, language, certainty and pesticide rates. If the retrieved context does not support an answer, the system says so instead of guessing. Across 13 probes, the pass rate improved from 46% to 69%.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experience and use cases. The interface is designed for a farmer with a phone: a simple login, a profile, a sidebar of saved conversations, and a camera or upload path for leaf photos. Answers show their sources, and feedback is stored per response. The main use cases are disease symptoms and management, fertiliser and planting decisions, pest control, harvest and storage. The same system supports extension officers and training sessions.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metrics. Retrieval: hit@5 is 0.75 and MRR is 0.42 for tuned hybrid retrieval. Dense-only still has a slight MRR edge, which suggests room for further fusion tuning. Guardrails: pass rate rose from 0.46 to 0.69; unsupported numbers fell from 1 to 0 and should-have-refused fell from 3 to 0. A temperature sweep showed that 0.3 reduced pass rate from 0.69 to 0.46, so greedy decoding remains the default.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All models run locally, so farmer data never leaves the machine or local network. Passwords use salted PBKDF2-HMAC-SHA256; login tokens are opaque and expire after 30 minutes of inactivity. The guardrails explicitly refuse out-of-scope and human-health questions. The DFD shows the local trust boundary: the app, the model files and MySQL all sit inside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The next improvements follow the same evaluation loop already used in the project: measure, fix, re-measure. Priorities are citation discipline, faithfulness, and constrained decoding. Larger local generators and fine-tuning are options if hardware allows. The corpus can expand to more crops and regions, and the app can be packaged for county-level deployment with feedback monitoring.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The project shows that a small local model, combined with retrieval and guardrails, can give useful, source-grounded maize advice in English and Kiswahili without cloud APIs. The results are measurable: hit@5 improved to 0.75 and guardrail pass rate to 0.69. The next steps are stronger grounding and wider deployment. Thank you — questions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052560" y="0"/>
            <a:ext cx="3139135" cy="6858000"/>
          </a:xfrm>
          <a:prstGeom prst="rect">
            <a:avLst/>
          </a:prstGeom>
          <a:solidFill>
            <a:srgbClr val="0E28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052560" y="0"/>
            <a:ext cx="45720" cy="68580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960120"/>
            <a:ext cx="7863840" cy="320040"/>
          </a:xfrm>
          <a:prstGeom prst="rect">
            <a:avLst/>
          </a:prstGeom>
          <a:noFill/>
        </p:spPr>
        <p:txBody>
          <a:bodyPr wrap="square" lIns="0" rIns="0" tIns="0" bIns="0" anchor="t">
            <a:spAutoFit/>
          </a:bodyPr>
          <a:lstStyle/>
          <a:p>
            <a:pPr algn="l">
              <a:lnSpc>
                <a:spcPct val="100000"/>
              </a:lnSpc>
            </a:pPr>
            <a:r>
              <a:rPr sz="1200" b="1" i="0">
                <a:solidFill>
                  <a:srgbClr val="A5D66A"/>
                </a:solidFill>
                <a:latin typeface="Arial"/>
              </a:rPr>
              <a:t>PROJECT PRESENTATION</a:t>
            </a:r>
          </a:p>
        </p:txBody>
      </p:sp>
      <p:sp>
        <p:nvSpPr>
          <p:cNvPr id="6" name="TextBox 5"/>
          <p:cNvSpPr txBox="1"/>
          <p:nvPr/>
        </p:nvSpPr>
        <p:spPr>
          <a:xfrm>
            <a:off x="777240" y="1417320"/>
            <a:ext cx="7955279" cy="1691640"/>
          </a:xfrm>
          <a:prstGeom prst="rect">
            <a:avLst/>
          </a:prstGeom>
          <a:noFill/>
        </p:spPr>
        <p:txBody>
          <a:bodyPr wrap="square" lIns="0" rIns="0" tIns="0" bIns="0" anchor="t">
            <a:spAutoFit/>
          </a:bodyPr>
          <a:lstStyle/>
          <a:p>
            <a:pPr algn="l">
              <a:lnSpc>
                <a:spcPct val="98000"/>
              </a:lnSpc>
            </a:pPr>
            <a:r>
              <a:rPr sz="4000" b="1" i="0">
                <a:solidFill>
                  <a:srgbClr val="FFFFFF"/>
                </a:solidFill>
                <a:latin typeface="Arial"/>
              </a:rPr>
              <a:t>Maize Disease Detection &amp;
Kenya Maize Advisory Chatbot</a:t>
            </a:r>
          </a:p>
        </p:txBody>
      </p:sp>
      <p:sp>
        <p:nvSpPr>
          <p:cNvPr id="7" name="TextBox 6"/>
          <p:cNvSpPr txBox="1"/>
          <p:nvPr/>
        </p:nvSpPr>
        <p:spPr>
          <a:xfrm>
            <a:off x="777240" y="3310128"/>
            <a:ext cx="7680960" cy="502920"/>
          </a:xfrm>
          <a:prstGeom prst="rect">
            <a:avLst/>
          </a:prstGeom>
          <a:noFill/>
        </p:spPr>
        <p:txBody>
          <a:bodyPr wrap="square" lIns="0" rIns="0" tIns="0" bIns="0" anchor="t">
            <a:spAutoFit/>
          </a:bodyPr>
          <a:lstStyle/>
          <a:p>
            <a:pPr algn="l">
              <a:lnSpc>
                <a:spcPct val="100000"/>
              </a:lnSpc>
            </a:pPr>
            <a:r>
              <a:rPr sz="1900" b="0" i="0">
                <a:solidFill>
                  <a:srgbClr val="C8E6C9"/>
                </a:solidFill>
                <a:latin typeface="Arial"/>
              </a:rPr>
              <a:t>A bilingual, offline RAG assistant for maize farmers</a:t>
            </a:r>
          </a:p>
        </p:txBody>
      </p:sp>
      <p:sp>
        <p:nvSpPr>
          <p:cNvPr id="8" name="TextBox 7"/>
          <p:cNvSpPr txBox="1"/>
          <p:nvPr/>
        </p:nvSpPr>
        <p:spPr>
          <a:xfrm>
            <a:off x="777240" y="3977639"/>
            <a:ext cx="7680960" cy="411480"/>
          </a:xfrm>
          <a:prstGeom prst="rect">
            <a:avLst/>
          </a:prstGeom>
          <a:noFill/>
        </p:spPr>
        <p:txBody>
          <a:bodyPr wrap="square" lIns="0" rIns="0" tIns="0" bIns="0" anchor="t">
            <a:spAutoFit/>
          </a:bodyPr>
          <a:lstStyle/>
          <a:p>
            <a:pPr algn="l">
              <a:lnSpc>
                <a:spcPct val="100000"/>
              </a:lnSpc>
            </a:pPr>
            <a:r>
              <a:rPr sz="1700" b="1" i="0">
                <a:solidFill>
                  <a:srgbClr val="FFFFFF"/>
                </a:solidFill>
                <a:latin typeface="Arial"/>
              </a:rPr>
              <a:t>By: Willard Owiti Odongo</a:t>
            </a:r>
          </a:p>
        </p:txBody>
      </p:sp>
      <p:sp>
        <p:nvSpPr>
          <p:cNvPr id="9" name="Rectangle 8"/>
          <p:cNvSpPr/>
          <p:nvPr/>
        </p:nvSpPr>
        <p:spPr>
          <a:xfrm>
            <a:off x="777240" y="4590288"/>
            <a:ext cx="3108960" cy="32004"/>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800600"/>
            <a:ext cx="7772400" cy="365760"/>
          </a:xfrm>
          <a:prstGeom prst="rect">
            <a:avLst/>
          </a:prstGeom>
          <a:noFill/>
        </p:spPr>
        <p:txBody>
          <a:bodyPr wrap="square" lIns="0" rIns="0" tIns="0" bIns="0" anchor="t">
            <a:spAutoFit/>
          </a:bodyPr>
          <a:lstStyle/>
          <a:p>
            <a:pPr algn="l">
              <a:lnSpc>
                <a:spcPct val="100000"/>
              </a:lnSpc>
            </a:pPr>
            <a:r>
              <a:rPr sz="1200" b="0" i="0">
                <a:solidFill>
                  <a:srgbClr val="C8E6C9"/>
                </a:solidFill>
                <a:latin typeface="Arial"/>
              </a:rPr>
              <a:t>English | Kiswahili   ·   Source-grounded answers   ·   Local models   ·   Guardrails</a:t>
            </a:r>
          </a:p>
        </p:txBody>
      </p:sp>
      <p:sp>
        <p:nvSpPr>
          <p:cNvPr id="11" name="TextBox 10"/>
          <p:cNvSpPr txBox="1"/>
          <p:nvPr/>
        </p:nvSpPr>
        <p:spPr>
          <a:xfrm>
            <a:off x="9464040" y="1417320"/>
            <a:ext cx="2286000" cy="320040"/>
          </a:xfrm>
          <a:prstGeom prst="rect">
            <a:avLst/>
          </a:prstGeom>
          <a:noFill/>
        </p:spPr>
        <p:txBody>
          <a:bodyPr wrap="square" lIns="0" rIns="0" tIns="0" bIns="0" anchor="t">
            <a:spAutoFit/>
          </a:bodyPr>
          <a:lstStyle/>
          <a:p>
            <a:pPr algn="l">
              <a:lnSpc>
                <a:spcPct val="100000"/>
              </a:lnSpc>
            </a:pPr>
            <a:r>
              <a:rPr sz="900" b="1" i="0">
                <a:solidFill>
                  <a:srgbClr val="A5D66A"/>
                </a:solidFill>
                <a:latin typeface="Arial"/>
              </a:rPr>
              <a:t>WHAT THIS DECK COVERS</a:t>
            </a:r>
          </a:p>
        </p:txBody>
      </p:sp>
      <p:sp>
        <p:nvSpPr>
          <p:cNvPr id="12" name="TextBox 11"/>
          <p:cNvSpPr txBox="1"/>
          <p:nvPr/>
        </p:nvSpPr>
        <p:spPr>
          <a:xfrm>
            <a:off x="9464040" y="1874519"/>
            <a:ext cx="2240280" cy="457200"/>
          </a:xfrm>
          <a:prstGeom prst="rect">
            <a:avLst/>
          </a:prstGeom>
          <a:noFill/>
        </p:spPr>
        <p:txBody>
          <a:bodyPr wrap="square" lIns="0" rIns="0" tIns="0" bIns="0" anchor="t">
            <a:spAutoFit/>
          </a:bodyPr>
          <a:lstStyle/>
          <a:p>
            <a:pPr algn="l">
              <a:lnSpc>
                <a:spcPct val="100000"/>
              </a:lnSpc>
            </a:pPr>
            <a:r>
              <a:rPr sz="1150" b="0" i="0">
                <a:solidFill>
                  <a:srgbClr val="FFFFFF"/>
                </a:solidFill>
                <a:latin typeface="Arial"/>
              </a:rPr>
              <a:t>The farmer problem</a:t>
            </a:r>
          </a:p>
        </p:txBody>
      </p:sp>
      <p:sp>
        <p:nvSpPr>
          <p:cNvPr id="13" name="Rectangle 12"/>
          <p:cNvSpPr/>
          <p:nvPr/>
        </p:nvSpPr>
        <p:spPr>
          <a:xfrm>
            <a:off x="9464040" y="2258568"/>
            <a:ext cx="502920" cy="2011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64040" y="2441448"/>
            <a:ext cx="2240280" cy="457200"/>
          </a:xfrm>
          <a:prstGeom prst="rect">
            <a:avLst/>
          </a:prstGeom>
          <a:noFill/>
        </p:spPr>
        <p:txBody>
          <a:bodyPr wrap="square" lIns="0" rIns="0" tIns="0" bIns="0" anchor="t">
            <a:spAutoFit/>
          </a:bodyPr>
          <a:lstStyle/>
          <a:p>
            <a:pPr algn="l">
              <a:lnSpc>
                <a:spcPct val="100000"/>
              </a:lnSpc>
            </a:pPr>
            <a:r>
              <a:rPr sz="1150" b="0" i="0">
                <a:solidFill>
                  <a:srgbClr val="FFFFFF"/>
                </a:solidFill>
                <a:latin typeface="Arial"/>
              </a:rPr>
              <a:t>RAG architecture</a:t>
            </a:r>
          </a:p>
        </p:txBody>
      </p:sp>
      <p:sp>
        <p:nvSpPr>
          <p:cNvPr id="15" name="Rectangle 14"/>
          <p:cNvSpPr/>
          <p:nvPr/>
        </p:nvSpPr>
        <p:spPr>
          <a:xfrm>
            <a:off x="9464040" y="2825496"/>
            <a:ext cx="502920" cy="2011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40" y="3008376"/>
            <a:ext cx="2240280" cy="457200"/>
          </a:xfrm>
          <a:prstGeom prst="rect">
            <a:avLst/>
          </a:prstGeom>
          <a:noFill/>
        </p:spPr>
        <p:txBody>
          <a:bodyPr wrap="square" lIns="0" rIns="0" tIns="0" bIns="0" anchor="t">
            <a:spAutoFit/>
          </a:bodyPr>
          <a:lstStyle/>
          <a:p>
            <a:pPr algn="l">
              <a:lnSpc>
                <a:spcPct val="100000"/>
              </a:lnSpc>
            </a:pPr>
            <a:r>
              <a:rPr sz="1150" b="0" i="0">
                <a:solidFill>
                  <a:srgbClr val="FFFFFF"/>
                </a:solidFill>
                <a:latin typeface="Arial"/>
              </a:rPr>
              <a:t>Guardrails &amp; safety</a:t>
            </a:r>
          </a:p>
        </p:txBody>
      </p:sp>
      <p:sp>
        <p:nvSpPr>
          <p:cNvPr id="17" name="Rectangle 16"/>
          <p:cNvSpPr/>
          <p:nvPr/>
        </p:nvSpPr>
        <p:spPr>
          <a:xfrm>
            <a:off x="9464040" y="3392424"/>
            <a:ext cx="502920" cy="2011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4040" y="3575303"/>
            <a:ext cx="2240280" cy="457200"/>
          </a:xfrm>
          <a:prstGeom prst="rect">
            <a:avLst/>
          </a:prstGeom>
          <a:noFill/>
        </p:spPr>
        <p:txBody>
          <a:bodyPr wrap="square" lIns="0" rIns="0" tIns="0" bIns="0" anchor="t">
            <a:spAutoFit/>
          </a:bodyPr>
          <a:lstStyle/>
          <a:p>
            <a:pPr algn="l">
              <a:lnSpc>
                <a:spcPct val="100000"/>
              </a:lnSpc>
            </a:pPr>
            <a:r>
              <a:rPr sz="1150" b="0" i="0">
                <a:solidFill>
                  <a:srgbClr val="FFFFFF"/>
                </a:solidFill>
                <a:latin typeface="Arial"/>
              </a:rPr>
              <a:t>Measured results</a:t>
            </a:r>
          </a:p>
        </p:txBody>
      </p:sp>
      <p:sp>
        <p:nvSpPr>
          <p:cNvPr id="19" name="Rectangle 18"/>
          <p:cNvSpPr/>
          <p:nvPr/>
        </p:nvSpPr>
        <p:spPr>
          <a:xfrm>
            <a:off x="9464040" y="3959352"/>
            <a:ext cx="502920" cy="2011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64040" y="4142231"/>
            <a:ext cx="2240280" cy="457200"/>
          </a:xfrm>
          <a:prstGeom prst="rect">
            <a:avLst/>
          </a:prstGeom>
          <a:noFill/>
        </p:spPr>
        <p:txBody>
          <a:bodyPr wrap="square" lIns="0" rIns="0" tIns="0" bIns="0" anchor="t">
            <a:spAutoFit/>
          </a:bodyPr>
          <a:lstStyle/>
          <a:p>
            <a:pPr algn="l">
              <a:lnSpc>
                <a:spcPct val="100000"/>
              </a:lnSpc>
            </a:pPr>
            <a:r>
              <a:rPr sz="1150" b="0" i="0">
                <a:solidFill>
                  <a:srgbClr val="FFFFFF"/>
                </a:solidFill>
                <a:latin typeface="Arial"/>
              </a:rPr>
              <a:t>Security &amp; roadmap</a:t>
            </a:r>
          </a:p>
        </p:txBody>
      </p:sp>
      <p:sp>
        <p:nvSpPr>
          <p:cNvPr id="21" name="Rectangle 20"/>
          <p:cNvSpPr/>
          <p:nvPr/>
        </p:nvSpPr>
        <p:spPr>
          <a:xfrm>
            <a:off x="9464040" y="4526280"/>
            <a:ext cx="502920" cy="20116"/>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172200"/>
            <a:ext cx="7315200" cy="228600"/>
          </a:xfrm>
          <a:prstGeom prst="rect">
            <a:avLst/>
          </a:prstGeom>
          <a:noFill/>
        </p:spPr>
        <p:txBody>
          <a:bodyPr wrap="square" lIns="0" rIns="0" tIns="0" bIns="0" anchor="t">
            <a:spAutoFit/>
          </a:bodyPr>
          <a:lstStyle/>
          <a:p>
            <a:pPr algn="l">
              <a:lnSpc>
                <a:spcPct val="100000"/>
              </a:lnSpc>
            </a:pPr>
            <a:r>
              <a:rPr sz="900" b="0" i="0">
                <a:solidFill>
                  <a:srgbClr val="8FA899"/>
                </a:solidFill>
                <a:latin typeface="Arial"/>
              </a:rPr>
              <a:t>15 slides · Project defence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The Problem: Late Diagnosis, Scarce Advice</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PROBLEM</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02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Maize foliar diseases can cut yields by 30–50%.</a:t>
            </a:r>
          </a:p>
          <a:p>
            <a:pPr algn="l" marL="219456" indent="-219456">
              <a:lnSpc>
                <a:spcPct val="108000"/>
              </a:lnSpc>
              <a:spcAft>
                <a:spcPts val="1200"/>
              </a:spcAft>
              <a:buFont typeface="Arial"/>
              <a:buChar char="•"/>
            </a:pPr>
            <a:r>
              <a:rPr sz="1600">
                <a:solidFill>
                  <a:srgbClr val="25322B"/>
                </a:solidFill>
                <a:latin typeface="Arial"/>
              </a:rPr>
              <a:t>Diagnosis depends on scarce agronomists: visual, slow and subjective.</a:t>
            </a:r>
          </a:p>
          <a:p>
            <a:pPr algn="l" marL="219456" indent="-219456">
              <a:lnSpc>
                <a:spcPct val="108000"/>
              </a:lnSpc>
              <a:spcAft>
                <a:spcPts val="1200"/>
              </a:spcAft>
              <a:buFont typeface="Arial"/>
              <a:buChar char="•"/>
            </a:pPr>
            <a:r>
              <a:rPr sz="1600">
                <a:solidFill>
                  <a:srgbClr val="25322B"/>
                </a:solidFill>
                <a:latin typeface="Arial"/>
              </a:rPr>
              <a:t>Farmers lack trusted advice on fertiliser, pests, harvest and storage.</a:t>
            </a:r>
          </a:p>
          <a:p>
            <a:pPr algn="l" marL="219456" indent="-219456">
              <a:lnSpc>
                <a:spcPct val="108000"/>
              </a:lnSpc>
              <a:spcAft>
                <a:spcPts val="1200"/>
              </a:spcAft>
              <a:buFont typeface="Arial"/>
              <a:buChar char="•"/>
            </a:pPr>
            <a:r>
              <a:rPr sz="1600">
                <a:solidFill>
                  <a:srgbClr val="25322B"/>
                </a:solidFill>
                <a:latin typeface="Arial"/>
              </a:rPr>
              <a:t>Advice is rarely available in local languages or offline.</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evel 0:context.jpeg"/>
          <p:cNvPicPr>
            <a:picLocks noChangeAspect="1"/>
          </p:cNvPicPr>
          <p:nvPr/>
        </p:nvPicPr>
        <p:blipFill>
          <a:blip r:embed="rId2"/>
          <a:stretch>
            <a:fillRect/>
          </a:stretch>
        </p:blipFill>
        <p:spPr>
          <a:xfrm>
            <a:off x="5605272" y="1847088"/>
            <a:ext cx="5934455" cy="3236976"/>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The farmer is central, but the current flow has no trusted advisory path.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The Solution: A Local, Bilingual Advisory Assistant</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SOLUTION</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03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RAG chatbot answers maize-farming questions from 24 curated PDFs plus disease seed knowledge.</a:t>
            </a:r>
          </a:p>
          <a:p>
            <a:pPr algn="l" marL="219456" indent="-219456">
              <a:lnSpc>
                <a:spcPct val="108000"/>
              </a:lnSpc>
              <a:spcAft>
                <a:spcPts val="1200"/>
              </a:spcAft>
              <a:buFont typeface="Arial"/>
              <a:buChar char="•"/>
            </a:pPr>
            <a:r>
              <a:rPr sz="1600">
                <a:solidFill>
                  <a:srgbClr val="25322B"/>
                </a:solidFill>
                <a:latin typeface="Arial"/>
              </a:rPr>
              <a:t>Supports English and Swahili through a translation pivot.</a:t>
            </a:r>
          </a:p>
          <a:p>
            <a:pPr algn="l" marL="219456" indent="-219456">
              <a:lnSpc>
                <a:spcPct val="108000"/>
              </a:lnSpc>
              <a:spcAft>
                <a:spcPts val="1200"/>
              </a:spcAft>
              <a:buFont typeface="Arial"/>
              <a:buChar char="•"/>
            </a:pPr>
            <a:r>
              <a:rPr sz="1600">
                <a:solidFill>
                  <a:srgbClr val="25322B"/>
                </a:solidFill>
                <a:latin typeface="Arial"/>
              </a:rPr>
              <a:t>Answers are grounded in retrieved sources and carry citations.</a:t>
            </a:r>
          </a:p>
          <a:p>
            <a:pPr algn="l" marL="219456" indent="-219456">
              <a:lnSpc>
                <a:spcPct val="108000"/>
              </a:lnSpc>
              <a:spcAft>
                <a:spcPts val="1200"/>
              </a:spcAft>
              <a:buFont typeface="Arial"/>
              <a:buChar char="•"/>
            </a:pPr>
            <a:r>
              <a:rPr sz="1600">
                <a:solidFill>
                  <a:srgbClr val="25322B"/>
                </a:solidFill>
                <a:latin typeface="Arial"/>
              </a:rPr>
              <a:t>Runs locally with no API keys, beside image-based diagnosis.</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evel 1: Overview.jpeg"/>
          <p:cNvPicPr>
            <a:picLocks noChangeAspect="1"/>
          </p:cNvPicPr>
          <p:nvPr/>
        </p:nvPicPr>
        <p:blipFill>
          <a:blip r:embed="rId2"/>
          <a:stretch>
            <a:fillRect/>
          </a:stretch>
        </p:blipFill>
        <p:spPr>
          <a:xfrm>
            <a:off x="5605272" y="1847088"/>
            <a:ext cx="5934455" cy="3236976"/>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One connected system: intake, retrieval, generation, validation and storage.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System Overview: One Farmer Journey</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SYSTEM OVERVIEW</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04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Detection tab: leaf photo → disease class and confidence.</a:t>
            </a:r>
          </a:p>
          <a:p>
            <a:pPr algn="l" marL="219456" indent="-219456">
              <a:lnSpc>
                <a:spcPct val="108000"/>
              </a:lnSpc>
              <a:spcAft>
                <a:spcPts val="1200"/>
              </a:spcAft>
              <a:buFont typeface="Arial"/>
              <a:buChar char="•"/>
            </a:pPr>
            <a:r>
              <a:rPr sz="1600">
                <a:solidFill>
                  <a:srgbClr val="25322B"/>
                </a:solidFill>
                <a:latin typeface="Arial"/>
              </a:rPr>
              <a:t>Advisory tab: follow-up chat continues from the diagnosis.</a:t>
            </a:r>
          </a:p>
          <a:p>
            <a:pPr algn="l" marL="219456" indent="-219456">
              <a:lnSpc>
                <a:spcPct val="108000"/>
              </a:lnSpc>
              <a:spcAft>
                <a:spcPts val="1200"/>
              </a:spcAft>
              <a:buFont typeface="Arial"/>
              <a:buChar char="•"/>
            </a:pPr>
            <a:r>
              <a:rPr sz="1600">
                <a:solidFill>
                  <a:srgbClr val="25322B"/>
                </a:solidFill>
                <a:latin typeface="Arial"/>
              </a:rPr>
              <a:t>Login and MySQL history save sessions, messages and feedback.</a:t>
            </a:r>
          </a:p>
          <a:p>
            <a:pPr algn="l" marL="219456" indent="-219456">
              <a:lnSpc>
                <a:spcPct val="108000"/>
              </a:lnSpc>
              <a:spcAft>
                <a:spcPts val="1200"/>
              </a:spcAft>
              <a:buFont typeface="Arial"/>
              <a:buChar char="•"/>
            </a:pPr>
            <a:r>
              <a:rPr sz="1600">
                <a:solidFill>
                  <a:srgbClr val="25322B"/>
                </a:solidFill>
                <a:latin typeface="Arial"/>
              </a:rPr>
              <a:t>Detection and advice share one local model stack.</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taFlowDiagram.jpeg"/>
          <p:cNvPicPr>
            <a:picLocks noChangeAspect="1"/>
          </p:cNvPicPr>
          <p:nvPr/>
        </p:nvPicPr>
        <p:blipFill>
          <a:blip r:embed="rId2"/>
          <a:stretch>
            <a:fillRect/>
          </a:stretch>
        </p:blipFill>
        <p:spPr>
          <a:xfrm>
            <a:off x="5605272" y="1847088"/>
            <a:ext cx="5934455" cy="3236976"/>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The full data flow from farmer input to stored, validated advice.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RAG Architecture: Ingestion Pipeline</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RAG ARCHITECTURE</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05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Extract text from 24 curated PDFs covering agronomy, pests, storage and policy.</a:t>
            </a:r>
          </a:p>
          <a:p>
            <a:pPr algn="l" marL="219456" indent="-219456">
              <a:lnSpc>
                <a:spcPct val="108000"/>
              </a:lnSpc>
              <a:spcAft>
                <a:spcPts val="1200"/>
              </a:spcAft>
              <a:buFont typeface="Arial"/>
              <a:buChar char="•"/>
            </a:pPr>
            <a:r>
              <a:rPr sz="1600">
                <a:solidFill>
                  <a:srgbClr val="25322B"/>
                </a:solidFill>
                <a:latin typeface="Arial"/>
              </a:rPr>
              <a:t>Clean pages, tag language, and add four disease seed documents.</a:t>
            </a:r>
          </a:p>
          <a:p>
            <a:pPr algn="l" marL="219456" indent="-219456">
              <a:lnSpc>
                <a:spcPct val="108000"/>
              </a:lnSpc>
              <a:spcAft>
                <a:spcPts val="1200"/>
              </a:spcAft>
              <a:buFont typeface="Arial"/>
              <a:buChar char="•"/>
            </a:pPr>
            <a:r>
              <a:rPr sz="1600">
                <a:solidFill>
                  <a:srgbClr val="25322B"/>
                </a:solidFill>
                <a:latin typeface="Arial"/>
              </a:rPr>
              <a:t>Chunk at 220 words with 40-word overlap.</a:t>
            </a:r>
          </a:p>
          <a:p>
            <a:pPr algn="l" marL="219456" indent="-219456">
              <a:lnSpc>
                <a:spcPct val="108000"/>
              </a:lnSpc>
              <a:spcAft>
                <a:spcPts val="1200"/>
              </a:spcAft>
              <a:buFont typeface="Arial"/>
              <a:buChar char="•"/>
            </a:pPr>
            <a:r>
              <a:rPr sz="1600">
                <a:solidFill>
                  <a:srgbClr val="25322B"/>
                </a:solidFill>
                <a:latin typeface="Arial"/>
              </a:rPr>
              <a:t>Persist corpus and chunks for reproducible rebuilds.</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evel 2.1: Prepare Text.jpeg"/>
          <p:cNvPicPr>
            <a:picLocks noChangeAspect="1"/>
          </p:cNvPicPr>
          <p:nvPr/>
        </p:nvPicPr>
        <p:blipFill>
          <a:blip r:embed="rId2"/>
          <a:stretch>
            <a:fillRect/>
          </a:stretch>
        </p:blipFill>
        <p:spPr>
          <a:xfrm>
            <a:off x="5605272" y="1847088"/>
            <a:ext cx="5934455" cy="3236976"/>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Where PDFs become clean, chunked evidence — the foundation of answer quality.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RAG Architecture: Vector Store &amp; Embeddings</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RAG ARCHITECTURE</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06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multilingual-e5-small embeds chunks and questions into 384 dimensions.</a:t>
            </a:r>
          </a:p>
          <a:p>
            <a:pPr algn="l" marL="219456" indent="-219456">
              <a:lnSpc>
                <a:spcPct val="108000"/>
              </a:lnSpc>
              <a:spcAft>
                <a:spcPts val="1200"/>
              </a:spcAft>
              <a:buFont typeface="Arial"/>
              <a:buChar char="•"/>
            </a:pPr>
            <a:r>
              <a:rPr sz="1600">
                <a:solidFill>
                  <a:srgbClr val="25322B"/>
                </a:solidFill>
                <a:latin typeface="Arial"/>
              </a:rPr>
              <a:t>Normalised NumPy index enables cosine search without an external vector database.</a:t>
            </a:r>
          </a:p>
          <a:p>
            <a:pPr algn="l" marL="219456" indent="-219456">
              <a:lnSpc>
                <a:spcPct val="108000"/>
              </a:lnSpc>
              <a:spcAft>
                <a:spcPts val="1200"/>
              </a:spcAft>
              <a:buFont typeface="Arial"/>
              <a:buChar char="•"/>
            </a:pPr>
            <a:r>
              <a:rPr sz="1600">
                <a:solidFill>
                  <a:srgbClr val="25322B"/>
                </a:solidFill>
                <a:latin typeface="Arial"/>
              </a:rPr>
              <a:t>About 3,447 chunks are indexed alongside a BM25 sparse index.</a:t>
            </a:r>
          </a:p>
          <a:p>
            <a:pPr algn="l" marL="219456" indent="-219456">
              <a:lnSpc>
                <a:spcPct val="108000"/>
              </a:lnSpc>
              <a:spcAft>
                <a:spcPts val="1200"/>
              </a:spcAft>
              <a:buFont typeface="Arial"/>
              <a:buChar char="•"/>
            </a:pPr>
            <a:r>
              <a:rPr sz="1600">
                <a:solidFill>
                  <a:srgbClr val="25322B"/>
                </a:solidFill>
                <a:latin typeface="Arial"/>
              </a:rPr>
              <a:t>Swahili queries are translated to English for retrieval.</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evel 2.2:Index and Search.jpeg"/>
          <p:cNvPicPr>
            <a:picLocks noChangeAspect="1"/>
          </p:cNvPicPr>
          <p:nvPr/>
        </p:nvPicPr>
        <p:blipFill>
          <a:blip r:embed="rId2"/>
          <a:stretch>
            <a:fillRect/>
          </a:stretch>
        </p:blipFill>
        <p:spPr>
          <a:xfrm>
            <a:off x="5605272" y="1847088"/>
            <a:ext cx="5934455" cy="3236976"/>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Two indexes, one query path: dense semantics plus sparse keyword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RAG Architecture: Retrieval Mechanism</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RAG ARCHITECTURE</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07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Dense and BM25 results are fused with tuned rank fusion.</a:t>
            </a:r>
          </a:p>
          <a:p>
            <a:pPr algn="l" marL="219456" indent="-219456">
              <a:lnSpc>
                <a:spcPct val="108000"/>
              </a:lnSpc>
              <a:spcAft>
                <a:spcPts val="1200"/>
              </a:spcAft>
              <a:buFont typeface="Arial"/>
              <a:buChar char="•"/>
            </a:pPr>
            <a:r>
              <a:rPr sz="1600">
                <a:solidFill>
                  <a:srgbClr val="25322B"/>
                </a:solidFill>
                <a:latin typeface="Arial"/>
              </a:rPr>
              <a:t>Best settings: dense weight 0.9, depth 10, RRF k = 30.</a:t>
            </a:r>
          </a:p>
          <a:p>
            <a:pPr algn="l" marL="219456" indent="-219456">
              <a:lnSpc>
                <a:spcPct val="108000"/>
              </a:lnSpc>
              <a:spcAft>
                <a:spcPts val="1200"/>
              </a:spcAft>
              <a:buFont typeface="Arial"/>
              <a:buChar char="•"/>
            </a:pPr>
            <a:r>
              <a:rPr sz="1600">
                <a:solidFill>
                  <a:srgbClr val="25322B"/>
                </a:solidFill>
                <a:latin typeface="Arial"/>
              </a:rPr>
              <a:t>Tuning lifted hit@5 from 0.50 to 0.75 and MRR from 0.21 to 0.42.</a:t>
            </a:r>
          </a:p>
          <a:p>
            <a:pPr algn="l" marL="219456" indent="-219456">
              <a:lnSpc>
                <a:spcPct val="108000"/>
              </a:lnSpc>
              <a:spcAft>
                <a:spcPts val="1200"/>
              </a:spcAft>
              <a:buFont typeface="Arial"/>
              <a:buChar char="•"/>
            </a:pPr>
            <a:r>
              <a:rPr sz="1600">
                <a:solidFill>
                  <a:srgbClr val="25322B"/>
                </a:solidFill>
                <a:latin typeface="Arial"/>
              </a:rPr>
              <a:t>Removing the Swahili pivot drops hit@5 to 0.25.</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7_systems_hit5_mrr.png"/>
          <p:cNvPicPr>
            <a:picLocks noChangeAspect="1"/>
          </p:cNvPicPr>
          <p:nvPr/>
        </p:nvPicPr>
        <p:blipFill>
          <a:blip r:embed="rId2"/>
          <a:stretch>
            <a:fillRect/>
          </a:stretch>
        </p:blipFill>
        <p:spPr>
          <a:xfrm>
            <a:off x="5605272" y="2001980"/>
            <a:ext cx="5934455" cy="2927190"/>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Tuned hybrid retrieval gives the best hit@5; dense-only still has a slight MRR edge.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RAG Architecture: Generation Layer</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RAG ARCHITECTURE</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08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Qwen2.5-1.5B-Instruct generates answers from retrieved context only.</a:t>
            </a:r>
          </a:p>
          <a:p>
            <a:pPr algn="l" marL="219456" indent="-219456">
              <a:lnSpc>
                <a:spcPct val="108000"/>
              </a:lnSpc>
              <a:spcAft>
                <a:spcPts val="1200"/>
              </a:spcAft>
              <a:buFont typeface="Arial"/>
              <a:buChar char="•"/>
            </a:pPr>
            <a:r>
              <a:rPr sz="1600">
                <a:solidFill>
                  <a:srgbClr val="25322B"/>
                </a:solidFill>
                <a:latin typeface="Arial"/>
              </a:rPr>
              <a:t>The prompt enforces citations, language matching, a disclaimer and pesticide caution.</a:t>
            </a:r>
          </a:p>
          <a:p>
            <a:pPr algn="l" marL="219456" indent="-219456">
              <a:lnSpc>
                <a:spcPct val="108000"/>
              </a:lnSpc>
              <a:spcAft>
                <a:spcPts val="1200"/>
              </a:spcAft>
              <a:buFont typeface="Arial"/>
              <a:buChar char="•"/>
            </a:pPr>
            <a:r>
              <a:rPr sz="1600">
                <a:solidFill>
                  <a:srgbClr val="25322B"/>
                </a:solidFill>
                <a:latin typeface="Arial"/>
              </a:rPr>
              <a:t>Greedy decoding (temperature 0) is the default for reproducible answers.</a:t>
            </a:r>
          </a:p>
          <a:p>
            <a:pPr algn="l" marL="219456" indent="-219456">
              <a:lnSpc>
                <a:spcPct val="108000"/>
              </a:lnSpc>
              <a:spcAft>
                <a:spcPts val="1200"/>
              </a:spcAft>
              <a:buFont typeface="Arial"/>
              <a:buChar char="•"/>
            </a:pPr>
            <a:r>
              <a:rPr sz="1600">
                <a:solidFill>
                  <a:srgbClr val="25322B"/>
                </a:solidFill>
                <a:latin typeface="Arial"/>
              </a:rPr>
              <a:t>Output is capped at 400 new tokens, with one validation retry.</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evel 2.3: Answer with Guardrails.jpeg"/>
          <p:cNvPicPr>
            <a:picLocks noChangeAspect="1"/>
          </p:cNvPicPr>
          <p:nvPr/>
        </p:nvPicPr>
        <p:blipFill>
          <a:blip r:embed="rId2"/>
          <a:stretch>
            <a:fillRect/>
          </a:stretch>
        </p:blipFill>
        <p:spPr>
          <a:xfrm>
            <a:off x="5605272" y="1847088"/>
            <a:ext cx="5934455" cy="3236976"/>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Generation is not a free-standing model call: it sits inside a validation loop.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Technical Stack: Free, Local, Mac-Friendly</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TECHNICAL STACK</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09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Python and Streamlit for the interface.</a:t>
            </a:r>
          </a:p>
          <a:p>
            <a:pPr algn="l" marL="219456" indent="-219456">
              <a:lnSpc>
                <a:spcPct val="108000"/>
              </a:lnSpc>
              <a:spcAft>
                <a:spcPts val="1200"/>
              </a:spcAft>
              <a:buFont typeface="Arial"/>
              <a:buChar char="•"/>
            </a:pPr>
            <a:r>
              <a:rPr sz="1600">
                <a:solidFill>
                  <a:srgbClr val="25322B"/>
                </a:solidFill>
                <a:latin typeface="Arial"/>
              </a:rPr>
              <a:t>PyMuPDF, pandas, NumPy and rank_bm25 for ingestion and search.</a:t>
            </a:r>
          </a:p>
          <a:p>
            <a:pPr algn="l" marL="219456" indent="-219456">
              <a:lnSpc>
                <a:spcPct val="108000"/>
              </a:lnSpc>
              <a:spcAft>
                <a:spcPts val="1200"/>
              </a:spcAft>
              <a:buFont typeface="Arial"/>
              <a:buChar char="•"/>
            </a:pPr>
            <a:r>
              <a:rPr sz="1600">
                <a:solidFill>
                  <a:srgbClr val="25322B"/>
                </a:solidFill>
                <a:latin typeface="Arial"/>
              </a:rPr>
              <a:t>sentence-transformers, NLLB-200 and Qwen2.5 for embeddings, translation and generation.</a:t>
            </a:r>
          </a:p>
          <a:p>
            <a:pPr algn="l" marL="219456" indent="-219456">
              <a:lnSpc>
                <a:spcPct val="108000"/>
              </a:lnSpc>
              <a:spcAft>
                <a:spcPts val="1200"/>
              </a:spcAft>
              <a:buFont typeface="Arial"/>
              <a:buChar char="•"/>
            </a:pPr>
            <a:r>
              <a:rPr sz="1600">
                <a:solidFill>
                  <a:srgbClr val="25322B"/>
                </a:solidFill>
                <a:latin typeface="Arial"/>
              </a:rPr>
              <a:t>MySQL stores accounts, sessions, messages and feedback.</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8_time_per_stage.png"/>
          <p:cNvPicPr>
            <a:picLocks noChangeAspect="1"/>
          </p:cNvPicPr>
          <p:nvPr/>
        </p:nvPicPr>
        <p:blipFill>
          <a:blip r:embed="rId2"/>
          <a:stretch>
            <a:fillRect/>
          </a:stretch>
        </p:blipFill>
        <p:spPr>
          <a:xfrm>
            <a:off x="5605271" y="2167831"/>
            <a:ext cx="5934456" cy="2595489"/>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The stack in action: translation, retrieval and generation are separate stages; generation dominates latency.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Advisory Logic &amp; Guardrails</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GUARDRAILS</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10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Rule-based refusal blocks off-topic, live-price and human-medicine questions.</a:t>
            </a:r>
          </a:p>
          <a:p>
            <a:pPr algn="l" marL="219456" indent="-219456">
              <a:lnSpc>
                <a:spcPct val="108000"/>
              </a:lnSpc>
              <a:spcAft>
                <a:spcPts val="1200"/>
              </a:spcAft>
              <a:buFont typeface="Arial"/>
              <a:buChar char="•"/>
            </a:pPr>
            <a:r>
              <a:rPr sz="1600">
                <a:solidFill>
                  <a:srgbClr val="25322B"/>
                </a:solidFill>
                <a:latin typeface="Arial"/>
              </a:rPr>
              <a:t>Validation checks citations, disclaimer, language, certainty and pesticide rates.</a:t>
            </a:r>
          </a:p>
          <a:p>
            <a:pPr algn="l" marL="219456" indent="-219456">
              <a:lnSpc>
                <a:spcPct val="108000"/>
              </a:lnSpc>
              <a:spcAft>
                <a:spcPts val="1200"/>
              </a:spcAft>
              <a:buFont typeface="Arial"/>
              <a:buChar char="•"/>
            </a:pPr>
            <a:r>
              <a:rPr sz="1600">
                <a:solidFill>
                  <a:srgbClr val="25322B"/>
                </a:solidFill>
                <a:latin typeface="Arial"/>
              </a:rPr>
              <a:t>The pipeline abstains when sources do not contain the answer.</a:t>
            </a:r>
          </a:p>
          <a:p>
            <a:pPr algn="l" marL="219456" indent="-219456">
              <a:lnSpc>
                <a:spcPct val="108000"/>
              </a:lnSpc>
              <a:spcAft>
                <a:spcPts val="1200"/>
              </a:spcAft>
              <a:buFont typeface="Arial"/>
              <a:buChar char="•"/>
            </a:pPr>
            <a:r>
              <a:rPr sz="1600">
                <a:solidFill>
                  <a:srgbClr val="25322B"/>
                </a:solidFill>
                <a:latin typeface="Arial"/>
              </a:rPr>
              <a:t>Guardrail pass rate improved from 46% to 69% across 13 probes.</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0_flags_before_after.png"/>
          <p:cNvPicPr>
            <a:picLocks noChangeAspect="1"/>
          </p:cNvPicPr>
          <p:nvPr/>
        </p:nvPicPr>
        <p:blipFill>
          <a:blip r:embed="rId2"/>
          <a:stretch>
            <a:fillRect/>
          </a:stretch>
        </p:blipFill>
        <p:spPr>
          <a:xfrm>
            <a:off x="5605272" y="2001950"/>
            <a:ext cx="5934455" cy="2927250"/>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Fewer real violations after targeted guardrail fixes.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User Experience &amp; Key Use Cases</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USER EXPERIENCE</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11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Login, profile and a sidebar of saved conversations.</a:t>
            </a:r>
          </a:p>
          <a:p>
            <a:pPr algn="l" marL="219456" indent="-219456">
              <a:lnSpc>
                <a:spcPct val="108000"/>
              </a:lnSpc>
              <a:spcAft>
                <a:spcPts val="1200"/>
              </a:spcAft>
              <a:buFont typeface="Arial"/>
              <a:buChar char="•"/>
            </a:pPr>
            <a:r>
              <a:rPr sz="1600">
                <a:solidFill>
                  <a:srgbClr val="25322B"/>
                </a:solidFill>
                <a:latin typeface="Arial"/>
              </a:rPr>
              <a:t>Upload a leaf photo or capture one with the camera; answers show sources and store feedback.</a:t>
            </a:r>
          </a:p>
          <a:p>
            <a:pPr algn="l" marL="219456" indent="-219456">
              <a:lnSpc>
                <a:spcPct val="108000"/>
              </a:lnSpc>
              <a:spcAft>
                <a:spcPts val="1200"/>
              </a:spcAft>
              <a:buFont typeface="Arial"/>
              <a:buChar char="•"/>
            </a:pPr>
            <a:r>
              <a:rPr sz="1600">
                <a:solidFill>
                  <a:srgbClr val="25322B"/>
                </a:solidFill>
                <a:latin typeface="Arial"/>
              </a:rPr>
              <a:t>Disease symptoms, fertiliser, planting, pests, harvest and storage questions.</a:t>
            </a:r>
          </a:p>
          <a:p>
            <a:pPr algn="l" marL="219456" indent="-219456">
              <a:lnSpc>
                <a:spcPct val="108000"/>
              </a:lnSpc>
              <a:spcAft>
                <a:spcPts val="1200"/>
              </a:spcAft>
              <a:buFont typeface="Arial"/>
              <a:buChar char="•"/>
            </a:pPr>
            <a:r>
              <a:rPr sz="1600">
                <a:solidFill>
                  <a:srgbClr val="25322B"/>
                </a:solidFill>
                <a:latin typeface="Arial"/>
              </a:rPr>
              <a:t>Swahili-first support for farmers, extension officers and training sessions.</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evel 0:context.jpeg"/>
          <p:cNvPicPr>
            <a:picLocks noChangeAspect="1"/>
          </p:cNvPicPr>
          <p:nvPr/>
        </p:nvPicPr>
        <p:blipFill>
          <a:blip r:embed="rId2"/>
          <a:stretch>
            <a:fillRect/>
          </a:stretch>
        </p:blipFill>
        <p:spPr>
          <a:xfrm>
            <a:off x="5605272" y="1847088"/>
            <a:ext cx="5934455" cy="3236976"/>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Farmer-facing interaction points: login, chat, photo upload and saved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Performance Metrics: Measured, Not Assumed</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METRICS</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12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Retrieval: tuned hybrid hit@5 = 0.75, MRR = 0.42; dense-only still has a slight MRR edge.</a:t>
            </a:r>
          </a:p>
          <a:p>
            <a:pPr algn="l" marL="219456" indent="-219456">
              <a:lnSpc>
                <a:spcPct val="108000"/>
              </a:lnSpc>
              <a:spcAft>
                <a:spcPts val="1200"/>
              </a:spcAft>
              <a:buFont typeface="Arial"/>
              <a:buChar char="•"/>
            </a:pPr>
            <a:r>
              <a:rPr sz="1600">
                <a:solidFill>
                  <a:srgbClr val="25322B"/>
                </a:solidFill>
                <a:latin typeface="Arial"/>
              </a:rPr>
              <a:t>Guardrails: pass rate improved from 0.46 to 0.69.</a:t>
            </a:r>
          </a:p>
          <a:p>
            <a:pPr algn="l" marL="219456" indent="-219456">
              <a:lnSpc>
                <a:spcPct val="108000"/>
              </a:lnSpc>
              <a:spcAft>
                <a:spcPts val="1200"/>
              </a:spcAft>
              <a:buFont typeface="Arial"/>
              <a:buChar char="•"/>
            </a:pPr>
            <a:r>
              <a:rPr sz="1600">
                <a:solidFill>
                  <a:srgbClr val="25322B"/>
                </a:solidFill>
                <a:latin typeface="Arial"/>
              </a:rPr>
              <a:t>Unsupported numbers fell from 1 to 0; should-have-refused fell from 3 to 0.</a:t>
            </a:r>
          </a:p>
          <a:p>
            <a:pPr algn="l" marL="219456" indent="-219456">
              <a:lnSpc>
                <a:spcPct val="108000"/>
              </a:lnSpc>
              <a:spcAft>
                <a:spcPts val="1200"/>
              </a:spcAft>
              <a:buFont typeface="Arial"/>
              <a:buChar char="•"/>
            </a:pPr>
            <a:r>
              <a:rPr sz="1600">
                <a:solidFill>
                  <a:srgbClr val="25322B"/>
                </a:solidFill>
                <a:latin typeface="Arial"/>
              </a:rPr>
              <a:t>Greedy temperature 0 beat 0.3 on pass rate, so the default was kept.</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7_systems_hit5_mrr.png"/>
          <p:cNvPicPr>
            <a:picLocks noChangeAspect="1"/>
          </p:cNvPicPr>
          <p:nvPr/>
        </p:nvPicPr>
        <p:blipFill>
          <a:blip r:embed="rId2"/>
          <a:stretch>
            <a:fillRect/>
          </a:stretch>
        </p:blipFill>
        <p:spPr>
          <a:xfrm>
            <a:off x="6057900" y="1219820"/>
            <a:ext cx="5029200" cy="2480669"/>
          </a:xfrm>
          <a:prstGeom prst="rect">
            <a:avLst/>
          </a:prstGeom>
          <a:ln w="9525">
            <a:solidFill>
              <a:srgbClr val="E2E9E2"/>
            </a:solidFill>
          </a:ln>
        </p:spPr>
      </p:pic>
      <p:pic>
        <p:nvPicPr>
          <p:cNvPr id="13" name="Picture 12" descr="11_temperature_sweep.png"/>
          <p:cNvPicPr>
            <a:picLocks noChangeAspect="1"/>
          </p:cNvPicPr>
          <p:nvPr/>
        </p:nvPicPr>
        <p:blipFill>
          <a:blip r:embed="rId3"/>
          <a:stretch>
            <a:fillRect/>
          </a:stretch>
        </p:blipFill>
        <p:spPr>
          <a:xfrm>
            <a:off x="6057900" y="3791930"/>
            <a:ext cx="5029200" cy="1919401"/>
          </a:xfrm>
          <a:prstGeom prst="rect">
            <a:avLst/>
          </a:prstGeom>
          <a:ln w="9525">
            <a:solidFill>
              <a:srgbClr val="E2E9E2"/>
            </a:solidFill>
          </a:ln>
        </p:spPr>
      </p:pic>
      <p:sp>
        <p:nvSpPr>
          <p:cNvPr id="14" name="TextBox 13"/>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Retrieval improved; sampling at 0.3 lowered pass rate, so greedy decoding stayed.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Security &amp; Compliance</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SECURITY</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13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All models run locally; farmer data is not sent to third parties.</a:t>
            </a:r>
          </a:p>
          <a:p>
            <a:pPr algn="l" marL="219456" indent="-219456">
              <a:lnSpc>
                <a:spcPct val="108000"/>
              </a:lnSpc>
              <a:spcAft>
                <a:spcPts val="1200"/>
              </a:spcAft>
              <a:buFont typeface="Arial"/>
              <a:buChar char="•"/>
            </a:pPr>
            <a:r>
              <a:rPr sz="1600">
                <a:solidFill>
                  <a:srgbClr val="25322B"/>
                </a:solidFill>
                <a:latin typeface="Arial"/>
              </a:rPr>
              <a:t>Passwords are stored as salted PBKDF2-HMAC-SHA256 hashes.</a:t>
            </a:r>
          </a:p>
          <a:p>
            <a:pPr algn="l" marL="219456" indent="-219456">
              <a:lnSpc>
                <a:spcPct val="108000"/>
              </a:lnSpc>
              <a:spcAft>
                <a:spcPts val="1200"/>
              </a:spcAft>
              <a:buFont typeface="Arial"/>
              <a:buChar char="•"/>
            </a:pPr>
            <a:r>
              <a:rPr sz="1600">
                <a:solidFill>
                  <a:srgbClr val="25322B"/>
                </a:solidFill>
                <a:latin typeface="Arial"/>
              </a:rPr>
              <a:t>Opaque login tokens expire after 30 minutes of inactivity.</a:t>
            </a:r>
          </a:p>
          <a:p>
            <a:pPr algn="l" marL="219456" indent="-219456">
              <a:lnSpc>
                <a:spcPct val="108000"/>
              </a:lnSpc>
              <a:spcAft>
                <a:spcPts val="1200"/>
              </a:spcAft>
              <a:buFont typeface="Arial"/>
              <a:buChar char="•"/>
            </a:pPr>
            <a:r>
              <a:rPr sz="1600">
                <a:solidFill>
                  <a:srgbClr val="25322B"/>
                </a:solidFill>
                <a:latin typeface="Arial"/>
              </a:rPr>
              <a:t>Out-of-scope and human-health questions are explicitly refused.</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89720" y="1143000"/>
            <a:ext cx="2331720" cy="292608"/>
          </a:xfrm>
          <a:prstGeom prst="roundRect">
            <a:avLst>
              <a:gd name="adj" fmla="val 25000"/>
            </a:avLst>
          </a:prstGeom>
          <a:solidFill>
            <a:srgbClr val="E8F3E3"/>
          </a:solidFill>
          <a:ln w="9525">
            <a:solidFill>
              <a:srgbClr val="C3DF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53728" y="1184148"/>
            <a:ext cx="2194560" cy="219456"/>
          </a:xfrm>
          <a:prstGeom prst="rect">
            <a:avLst/>
          </a:prstGeom>
          <a:noFill/>
        </p:spPr>
        <p:txBody>
          <a:bodyPr wrap="square" lIns="0" rIns="0" tIns="0" bIns="0" anchor="t">
            <a:spAutoFit/>
          </a:bodyPr>
          <a:lstStyle/>
          <a:p>
            <a:pPr algn="ctr">
              <a:lnSpc>
                <a:spcPct val="100000"/>
              </a:lnSpc>
            </a:pPr>
            <a:r>
              <a:rPr sz="800" b="1" i="0">
                <a:solidFill>
                  <a:srgbClr val="2E7D32"/>
                </a:solidFill>
                <a:latin typeface="Arial"/>
              </a:rPr>
              <a:t>LOCAL ONLY · NO EXTERNAL APIs</a:t>
            </a:r>
          </a:p>
        </p:txBody>
      </p:sp>
      <p:pic>
        <p:nvPicPr>
          <p:cNvPr id="14" name="Picture 13" descr="DataFlowDiagram.jpeg"/>
          <p:cNvPicPr>
            <a:picLocks noChangeAspect="1"/>
          </p:cNvPicPr>
          <p:nvPr/>
        </p:nvPicPr>
        <p:blipFill>
          <a:blip r:embed="rId2"/>
          <a:stretch>
            <a:fillRect/>
          </a:stretch>
        </p:blipFill>
        <p:spPr>
          <a:xfrm>
            <a:off x="5623560" y="2071947"/>
            <a:ext cx="5897879" cy="3217025"/>
          </a:xfrm>
          <a:prstGeom prst="rect">
            <a:avLst/>
          </a:prstGeom>
          <a:ln w="9525">
            <a:solidFill>
              <a:srgbClr val="E2E9E2"/>
            </a:solidFill>
          </a:ln>
        </p:spPr>
      </p:pic>
      <p:sp>
        <p:nvSpPr>
          <p:cNvPr id="15" name="TextBox 14"/>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Every data flow stays inside the local trust boundary.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Roadmap / Future Improvements</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ROADMAP</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14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Strengthen citation discipline and answer faithfulness.</a:t>
            </a:r>
          </a:p>
          <a:p>
            <a:pPr algn="l" marL="219456" indent="-219456">
              <a:lnSpc>
                <a:spcPct val="108000"/>
              </a:lnSpc>
              <a:spcAft>
                <a:spcPts val="1200"/>
              </a:spcAft>
              <a:buFont typeface="Arial"/>
              <a:buChar char="•"/>
            </a:pPr>
            <a:r>
              <a:rPr sz="1600">
                <a:solidFill>
                  <a:srgbClr val="25322B"/>
                </a:solidFill>
                <a:latin typeface="Arial"/>
              </a:rPr>
              <a:t>Explore fine-tuning, larger local generators and constrained decoding.</a:t>
            </a:r>
          </a:p>
          <a:p>
            <a:pPr algn="l" marL="219456" indent="-219456">
              <a:lnSpc>
                <a:spcPct val="108000"/>
              </a:lnSpc>
              <a:spcAft>
                <a:spcPts val="1200"/>
              </a:spcAft>
              <a:buFont typeface="Arial"/>
              <a:buChar char="•"/>
            </a:pPr>
            <a:r>
              <a:rPr sz="1600">
                <a:solidFill>
                  <a:srgbClr val="25322B"/>
                </a:solidFill>
                <a:latin typeface="Arial"/>
              </a:rPr>
              <a:t>Expand the corpus to more crops, regions and updated guidance.</a:t>
            </a:r>
          </a:p>
          <a:p>
            <a:pPr algn="l" marL="219456" indent="-219456">
              <a:lnSpc>
                <a:spcPct val="108000"/>
              </a:lnSpc>
              <a:spcAft>
                <a:spcPts val="1200"/>
              </a:spcAft>
              <a:buFont typeface="Arial"/>
              <a:buChar char="•"/>
            </a:pPr>
            <a:r>
              <a:rPr sz="1600">
                <a:solidFill>
                  <a:srgbClr val="25322B"/>
                </a:solidFill>
                <a:latin typeface="Arial"/>
              </a:rPr>
              <a:t>Package for county-level deployment and monitor user feedback.</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evel 2.4:Evaluate and Improve.jpeg"/>
          <p:cNvPicPr>
            <a:picLocks noChangeAspect="1"/>
          </p:cNvPicPr>
          <p:nvPr/>
        </p:nvPicPr>
        <p:blipFill>
          <a:blip r:embed="rId2"/>
          <a:stretch>
            <a:fillRect/>
          </a:stretch>
        </p:blipFill>
        <p:spPr>
          <a:xfrm>
            <a:off x="5605272" y="1847088"/>
            <a:ext cx="5934455" cy="3236976"/>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The roadmap is an existing loop: measure → fix → re-measure.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49808"/>
          </a:xfrm>
          <a:prstGeom prst="rect">
            <a:avLst/>
          </a:prstGeom>
          <a:solidFill>
            <a:srgbClr val="102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49808"/>
            <a:ext cx="12191695" cy="41148"/>
          </a:xfrm>
          <a:prstGeom prst="rect">
            <a:avLst/>
          </a:prstGeom>
          <a:solidFill>
            <a:srgbClr val="A5D6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18872"/>
            <a:ext cx="9692640" cy="512064"/>
          </a:xfrm>
          <a:prstGeom prst="rect">
            <a:avLst/>
          </a:prstGeom>
          <a:noFill/>
        </p:spPr>
        <p:txBody>
          <a:bodyPr wrap="square" lIns="0" rIns="0" tIns="0" bIns="0" anchor="ctr">
            <a:spAutoFit/>
          </a:bodyPr>
          <a:lstStyle/>
          <a:p>
            <a:pPr algn="l">
              <a:lnSpc>
                <a:spcPct val="100000"/>
              </a:lnSpc>
            </a:pPr>
            <a:r>
              <a:rPr sz="2400" b="1" i="0">
                <a:solidFill>
                  <a:srgbClr val="FFFFFF"/>
                </a:solidFill>
                <a:latin typeface="Arial"/>
              </a:rPr>
              <a:t>Conclusion &amp; Q&amp;A</a:t>
            </a:r>
          </a:p>
        </p:txBody>
      </p:sp>
      <p:sp>
        <p:nvSpPr>
          <p:cNvPr id="6" name="TextBox 5"/>
          <p:cNvSpPr txBox="1"/>
          <p:nvPr/>
        </p:nvSpPr>
        <p:spPr>
          <a:xfrm>
            <a:off x="9966960" y="219456"/>
            <a:ext cx="1783080" cy="274320"/>
          </a:xfrm>
          <a:prstGeom prst="rect">
            <a:avLst/>
          </a:prstGeom>
          <a:noFill/>
        </p:spPr>
        <p:txBody>
          <a:bodyPr wrap="square" lIns="0" rIns="0" tIns="0" bIns="0" anchor="t">
            <a:spAutoFit/>
          </a:bodyPr>
          <a:lstStyle/>
          <a:p>
            <a:pPr algn="r">
              <a:lnSpc>
                <a:spcPct val="100000"/>
              </a:lnSpc>
            </a:pPr>
            <a:r>
              <a:rPr sz="900" b="1" i="0">
                <a:solidFill>
                  <a:srgbClr val="C8E6C9"/>
                </a:solidFill>
                <a:latin typeface="Arial"/>
              </a:rPr>
              <a:t>CONCLUSION</a:t>
            </a:r>
          </a:p>
        </p:txBody>
      </p:sp>
      <p:sp>
        <p:nvSpPr>
          <p:cNvPr id="7" name="TextBox 6"/>
          <p:cNvSpPr txBox="1"/>
          <p:nvPr/>
        </p:nvSpPr>
        <p:spPr>
          <a:xfrm>
            <a:off x="502920" y="6519672"/>
            <a:ext cx="7315200" cy="201168"/>
          </a:xfrm>
          <a:prstGeom prst="rect">
            <a:avLst/>
          </a:prstGeom>
          <a:noFill/>
        </p:spPr>
        <p:txBody>
          <a:bodyPr wrap="square" lIns="0" rIns="0" tIns="0" bIns="0" anchor="t">
            <a:spAutoFit/>
          </a:bodyPr>
          <a:lstStyle/>
          <a:p>
            <a:pPr algn="l">
              <a:lnSpc>
                <a:spcPct val="100000"/>
              </a:lnSpc>
            </a:pPr>
            <a:r>
              <a:rPr sz="800" b="0" i="0">
                <a:solidFill>
                  <a:srgbClr val="5E6E66"/>
                </a:solidFill>
                <a:latin typeface="Arial"/>
              </a:rPr>
              <a:t>Maize Disease Detection &amp; Kenya Maize Advisory Chatbot</a:t>
            </a:r>
          </a:p>
        </p:txBody>
      </p:sp>
      <p:sp>
        <p:nvSpPr>
          <p:cNvPr id="8" name="TextBox 7"/>
          <p:cNvSpPr txBox="1"/>
          <p:nvPr/>
        </p:nvSpPr>
        <p:spPr>
          <a:xfrm>
            <a:off x="10789920" y="6519672"/>
            <a:ext cx="914400" cy="201168"/>
          </a:xfrm>
          <a:prstGeom prst="rect">
            <a:avLst/>
          </a:prstGeom>
          <a:noFill/>
        </p:spPr>
        <p:txBody>
          <a:bodyPr wrap="square" lIns="0" rIns="0" tIns="0" bIns="0" anchor="t">
            <a:spAutoFit/>
          </a:bodyPr>
          <a:lstStyle/>
          <a:p>
            <a:pPr algn="r">
              <a:lnSpc>
                <a:spcPct val="100000"/>
              </a:lnSpc>
            </a:pPr>
            <a:r>
              <a:rPr sz="800" b="0" i="0">
                <a:solidFill>
                  <a:srgbClr val="5E6E66"/>
                </a:solidFill>
                <a:latin typeface="Arial"/>
              </a:rPr>
              <a:t>15 / 15</a:t>
            </a:r>
          </a:p>
        </p:txBody>
      </p:sp>
      <p:sp>
        <p:nvSpPr>
          <p:cNvPr id="9" name="Rectangle 8"/>
          <p:cNvSpPr/>
          <p:nvPr/>
        </p:nvSpPr>
        <p:spPr>
          <a:xfrm>
            <a:off x="502920" y="1024128"/>
            <a:ext cx="64008" cy="658368"/>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969264"/>
            <a:ext cx="4553712" cy="5349240"/>
          </a:xfrm>
          <a:prstGeom prst="rect">
            <a:avLst/>
          </a:prstGeom>
          <a:noFill/>
        </p:spPr>
        <p:txBody>
          <a:bodyPr wrap="square" lIns="0" rIns="0" tIns="0" bIns="0" anchor="t">
            <a:spAutoFit/>
          </a:bodyPr>
          <a:lstStyle/>
          <a:p>
            <a:pPr algn="l" marL="219456" indent="-219456">
              <a:lnSpc>
                <a:spcPct val="108000"/>
              </a:lnSpc>
              <a:spcAft>
                <a:spcPts val="1200"/>
              </a:spcAft>
              <a:buFont typeface="Arial"/>
              <a:buChar char="•"/>
            </a:pPr>
            <a:r>
              <a:rPr sz="1600">
                <a:solidFill>
                  <a:srgbClr val="25322B"/>
                </a:solidFill>
                <a:latin typeface="Arial"/>
              </a:rPr>
              <a:t>RAG plus guardrails make local language models useful for farmer advice.</a:t>
            </a:r>
          </a:p>
          <a:p>
            <a:pPr algn="l" marL="219456" indent="-219456">
              <a:lnSpc>
                <a:spcPct val="108000"/>
              </a:lnSpc>
              <a:spcAft>
                <a:spcPts val="1200"/>
              </a:spcAft>
              <a:buFont typeface="Arial"/>
              <a:buChar char="•"/>
            </a:pPr>
            <a:r>
              <a:rPr sz="1600">
                <a:solidFill>
                  <a:srgbClr val="25322B"/>
                </a:solidFill>
                <a:latin typeface="Arial"/>
              </a:rPr>
              <a:t>Bilingual hybrid retrieval is measurable and tunable.</a:t>
            </a:r>
          </a:p>
          <a:p>
            <a:pPr algn="l" marL="219456" indent="-219456">
              <a:lnSpc>
                <a:spcPct val="108000"/>
              </a:lnSpc>
              <a:spcAft>
                <a:spcPts val="1200"/>
              </a:spcAft>
              <a:buFont typeface="Arial"/>
              <a:buChar char="•"/>
            </a:pPr>
            <a:r>
              <a:rPr sz="1600">
                <a:solidFill>
                  <a:srgbClr val="25322B"/>
                </a:solidFill>
                <a:latin typeface="Arial"/>
              </a:rPr>
              <a:t>Offline design keeps cost, privacy and connectivity under control.</a:t>
            </a:r>
          </a:p>
          <a:p>
            <a:pPr algn="l" marL="219456" indent="-219456">
              <a:lnSpc>
                <a:spcPct val="108000"/>
              </a:lnSpc>
              <a:spcAft>
                <a:spcPts val="1200"/>
              </a:spcAft>
              <a:buFont typeface="Arial"/>
              <a:buChar char="•"/>
            </a:pPr>
            <a:r>
              <a:rPr sz="1600">
                <a:solidFill>
                  <a:srgbClr val="25322B"/>
                </a:solidFill>
                <a:latin typeface="Arial"/>
              </a:rPr>
              <a:t>Next step: stronger grounding and wider deployment.</a:t>
            </a:r>
          </a:p>
        </p:txBody>
      </p:sp>
      <p:sp>
        <p:nvSpPr>
          <p:cNvPr id="11" name="Rounded Rectangle 10"/>
          <p:cNvSpPr/>
          <p:nvPr/>
        </p:nvSpPr>
        <p:spPr>
          <a:xfrm>
            <a:off x="5440680" y="960120"/>
            <a:ext cx="6263640" cy="5394960"/>
          </a:xfrm>
          <a:prstGeom prst="roundRect">
            <a:avLst>
              <a:gd name="adj" fmla="val 3500"/>
            </a:avLst>
          </a:prstGeom>
          <a:solidFill>
            <a:srgbClr val="FFFFFF"/>
          </a:solidFill>
          <a:ln w="12700">
            <a:solidFill>
              <a:srgbClr val="DC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10_flags_before_after.png"/>
          <p:cNvPicPr>
            <a:picLocks noChangeAspect="1"/>
          </p:cNvPicPr>
          <p:nvPr/>
        </p:nvPicPr>
        <p:blipFill>
          <a:blip r:embed="rId2"/>
          <a:stretch>
            <a:fillRect/>
          </a:stretch>
        </p:blipFill>
        <p:spPr>
          <a:xfrm>
            <a:off x="5605272" y="2001950"/>
            <a:ext cx="5934455" cy="2927250"/>
          </a:xfrm>
          <a:prstGeom prst="rect">
            <a:avLst/>
          </a:prstGeom>
          <a:ln w="9525">
            <a:solidFill>
              <a:srgbClr val="E2E9E2"/>
            </a:solidFill>
          </a:ln>
        </p:spPr>
      </p:pic>
      <p:sp>
        <p:nvSpPr>
          <p:cNvPr id="13" name="TextBox 12"/>
          <p:cNvSpPr txBox="1"/>
          <p:nvPr/>
        </p:nvSpPr>
        <p:spPr>
          <a:xfrm>
            <a:off x="5641848" y="5824728"/>
            <a:ext cx="5861303" cy="457200"/>
          </a:xfrm>
          <a:prstGeom prst="rect">
            <a:avLst/>
          </a:prstGeom>
          <a:noFill/>
        </p:spPr>
        <p:txBody>
          <a:bodyPr wrap="square" lIns="0" rIns="0" tIns="0" bIns="0" anchor="t">
            <a:spAutoFit/>
          </a:bodyPr>
          <a:lstStyle/>
          <a:p>
            <a:pPr algn="l">
              <a:lnSpc>
                <a:spcPct val="100000"/>
              </a:lnSpc>
            </a:pPr>
            <a:r>
              <a:rPr sz="1100" b="1">
                <a:solidFill>
                  <a:srgbClr val="2E7D32"/>
                </a:solidFill>
                <a:latin typeface="Arial"/>
              </a:rPr>
              <a:t>Takeaway: </a:t>
            </a:r>
            <a:r>
              <a:rPr sz="1100" i="1">
                <a:solidFill>
                  <a:srgbClr val="5E6E66"/>
                </a:solidFill>
                <a:latin typeface="Arial"/>
              </a:rPr>
              <a:t>Safer answers are measurable: guardrail pass rate rose from 46% to 69%.</a:t>
            </a:r>
          </a:p>
        </p:txBody>
      </p:sp>
      <p:sp>
        <p:nvSpPr>
          <p:cNvPr id="14" name="TextBox 13"/>
          <p:cNvSpPr txBox="1"/>
          <p:nvPr/>
        </p:nvSpPr>
        <p:spPr>
          <a:xfrm>
            <a:off x="749808" y="5212080"/>
            <a:ext cx="4553712" cy="822960"/>
          </a:xfrm>
          <a:prstGeom prst="rect">
            <a:avLst/>
          </a:prstGeom>
          <a:noFill/>
        </p:spPr>
        <p:txBody>
          <a:bodyPr wrap="square" lIns="0" rIns="0" tIns="0" bIns="0" anchor="t">
            <a:spAutoFit/>
          </a:bodyPr>
          <a:lstStyle/>
          <a:p>
            <a:pPr algn="l">
              <a:lnSpc>
                <a:spcPct val="100000"/>
              </a:lnSpc>
            </a:pPr>
            <a:r>
              <a:rPr sz="1700" b="1" i="1">
                <a:solidFill>
                  <a:srgbClr val="2E7D32"/>
                </a:solidFill>
                <a:latin typeface="Arial"/>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Maize Disease Detection &amp; Kenya Maize Advisory Chatbot</dc:title>
  <dc:subject>Bilingual RAG advisory chatbot presentation</dc:subject>
  <dc:creator>Willard Owiti Odongo</dc:creator>
  <cp:keywords/>
  <dc:description>15-slide project presentation built from project DFDs and measured charts.</dc:description>
  <cp:lastModifiedBy>Steve Canny</cp:lastModifiedBy>
  <cp:revision>1</cp:revision>
  <dcterms:created xsi:type="dcterms:W3CDTF">2013-01-27T09:14:16Z</dcterms:created>
  <dcterms:modified xsi:type="dcterms:W3CDTF">2013-01-27T09:15:58Z</dcterms:modified>
  <cp:category/>
</cp:coreProperties>
</file>